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Funnel Sans"/>
      <p:regular r:id="rId21"/>
      <p:bold r:id="rId22"/>
      <p:italic r:id="rId23"/>
      <p:boldItalic r:id="rId24"/>
    </p:embeddedFont>
    <p:embeddedFont>
      <p:font typeface="Mona Sa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FunnelSans-bold.fntdata"/><Relationship Id="rId21" Type="http://schemas.openxmlformats.org/officeDocument/2006/relationships/font" Target="fonts/FunnelSans-regular.fntdata"/><Relationship Id="rId24" Type="http://schemas.openxmlformats.org/officeDocument/2006/relationships/font" Target="fonts/FunnelSans-boldItalic.fntdata"/><Relationship Id="rId23" Type="http://schemas.openxmlformats.org/officeDocument/2006/relationships/font" Target="fonts/Funnel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onaSansSemiBold-bold.fntdata"/><Relationship Id="rId25" Type="http://schemas.openxmlformats.org/officeDocument/2006/relationships/font" Target="fonts/MonaSansSemiBold-regular.fntdata"/><Relationship Id="rId28" Type="http://schemas.openxmlformats.org/officeDocument/2006/relationships/font" Target="fonts/MonaSansSemiBold-boldItalic.fntdata"/><Relationship Id="rId27" Type="http://schemas.openxmlformats.org/officeDocument/2006/relationships/font" Target="fonts/MonaSa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956686030_3_69:notes"/>
          <p:cNvSpPr/>
          <p:nvPr>
            <p:ph idx="2" type="sldImg"/>
          </p:nvPr>
        </p:nvSpPr>
        <p:spPr>
          <a:xfrm>
            <a:off x="514295" y="857273"/>
            <a:ext cx="4114910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f956686030_3_69:notes"/>
          <p:cNvSpPr txBox="1"/>
          <p:nvPr>
            <p:ph idx="1" type="body"/>
          </p:nvPr>
        </p:nvSpPr>
        <p:spPr>
          <a:xfrm>
            <a:off x="514350" y="3300500"/>
            <a:ext cx="41148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8" name="Google Shape;58;g3f956686030_3_69:notes"/>
          <p:cNvSpPr txBox="1"/>
          <p:nvPr>
            <p:ph idx="12" type="sldNum"/>
          </p:nvPr>
        </p:nvSpPr>
        <p:spPr>
          <a:xfrm>
            <a:off x="2913460" y="6514083"/>
            <a:ext cx="222885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9567593dd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9567593dd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9567593dd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956686030_3_34:notes"/>
          <p:cNvSpPr/>
          <p:nvPr>
            <p:ph idx="2" type="sldImg"/>
          </p:nvPr>
        </p:nvSpPr>
        <p:spPr>
          <a:xfrm>
            <a:off x="514295" y="857273"/>
            <a:ext cx="4114910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956686030_3_34:notes"/>
          <p:cNvSpPr txBox="1"/>
          <p:nvPr>
            <p:ph idx="1" type="body"/>
          </p:nvPr>
        </p:nvSpPr>
        <p:spPr>
          <a:xfrm>
            <a:off x="514350" y="3300500"/>
            <a:ext cx="41148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5" name="Google Shape;125;g3f956686030_3_34:notes"/>
          <p:cNvSpPr txBox="1"/>
          <p:nvPr>
            <p:ph idx="12" type="sldNum"/>
          </p:nvPr>
        </p:nvSpPr>
        <p:spPr>
          <a:xfrm>
            <a:off x="2913460" y="6514083"/>
            <a:ext cx="222885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956686030_3_6:notes"/>
          <p:cNvSpPr/>
          <p:nvPr>
            <p:ph idx="2" type="sldImg"/>
          </p:nvPr>
        </p:nvSpPr>
        <p:spPr>
          <a:xfrm>
            <a:off x="514295" y="857273"/>
            <a:ext cx="4114910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956686030_3_6:notes"/>
          <p:cNvSpPr txBox="1"/>
          <p:nvPr>
            <p:ph idx="1" type="body"/>
          </p:nvPr>
        </p:nvSpPr>
        <p:spPr>
          <a:xfrm>
            <a:off x="514350" y="3300500"/>
            <a:ext cx="41148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1" name="Google Shape;161;g3f956686030_3_6:notes"/>
          <p:cNvSpPr txBox="1"/>
          <p:nvPr>
            <p:ph idx="12" type="sldNum"/>
          </p:nvPr>
        </p:nvSpPr>
        <p:spPr>
          <a:xfrm>
            <a:off x="2913460" y="6514083"/>
            <a:ext cx="222885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956686030_3_136:notes"/>
          <p:cNvSpPr/>
          <p:nvPr>
            <p:ph idx="2" type="sldImg"/>
          </p:nvPr>
        </p:nvSpPr>
        <p:spPr>
          <a:xfrm>
            <a:off x="514295" y="857273"/>
            <a:ext cx="4114910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f956686030_3_136:notes"/>
          <p:cNvSpPr txBox="1"/>
          <p:nvPr>
            <p:ph idx="1" type="body"/>
          </p:nvPr>
        </p:nvSpPr>
        <p:spPr>
          <a:xfrm>
            <a:off x="514350" y="3300500"/>
            <a:ext cx="41148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0" name="Google Shape;200;g3f956686030_3_136:notes"/>
          <p:cNvSpPr txBox="1"/>
          <p:nvPr>
            <p:ph idx="12" type="sldNum"/>
          </p:nvPr>
        </p:nvSpPr>
        <p:spPr>
          <a:xfrm>
            <a:off x="2913460" y="6514083"/>
            <a:ext cx="222885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956686030_3_85:notes"/>
          <p:cNvSpPr/>
          <p:nvPr>
            <p:ph idx="2" type="sldImg"/>
          </p:nvPr>
        </p:nvSpPr>
        <p:spPr>
          <a:xfrm>
            <a:off x="514295" y="857273"/>
            <a:ext cx="4114910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f956686030_3_85:notes"/>
          <p:cNvSpPr txBox="1"/>
          <p:nvPr>
            <p:ph idx="1" type="body"/>
          </p:nvPr>
        </p:nvSpPr>
        <p:spPr>
          <a:xfrm>
            <a:off x="514350" y="3300500"/>
            <a:ext cx="41148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23" name="Google Shape;223;g3f956686030_3_85:notes"/>
          <p:cNvSpPr txBox="1"/>
          <p:nvPr>
            <p:ph idx="12" type="sldNum"/>
          </p:nvPr>
        </p:nvSpPr>
        <p:spPr>
          <a:xfrm>
            <a:off x="2913460" y="6514083"/>
            <a:ext cx="222885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956686030_3_105:notes"/>
          <p:cNvSpPr/>
          <p:nvPr>
            <p:ph idx="2" type="sldImg"/>
          </p:nvPr>
        </p:nvSpPr>
        <p:spPr>
          <a:xfrm>
            <a:off x="514295" y="857273"/>
            <a:ext cx="4114910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f956686030_3_105:notes"/>
          <p:cNvSpPr txBox="1"/>
          <p:nvPr>
            <p:ph idx="1" type="body"/>
          </p:nvPr>
        </p:nvSpPr>
        <p:spPr>
          <a:xfrm>
            <a:off x="514350" y="3300500"/>
            <a:ext cx="41148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44" name="Google Shape;244;g3f956686030_3_105:notes"/>
          <p:cNvSpPr txBox="1"/>
          <p:nvPr>
            <p:ph idx="12" type="sldNum"/>
          </p:nvPr>
        </p:nvSpPr>
        <p:spPr>
          <a:xfrm>
            <a:off x="2913460" y="6514083"/>
            <a:ext cx="222885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956686030_3_115:notes"/>
          <p:cNvSpPr/>
          <p:nvPr>
            <p:ph idx="2" type="sldImg"/>
          </p:nvPr>
        </p:nvSpPr>
        <p:spPr>
          <a:xfrm>
            <a:off x="514295" y="857273"/>
            <a:ext cx="4114910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f956686030_3_115:notes"/>
          <p:cNvSpPr txBox="1"/>
          <p:nvPr>
            <p:ph idx="1" type="body"/>
          </p:nvPr>
        </p:nvSpPr>
        <p:spPr>
          <a:xfrm>
            <a:off x="514350" y="3300500"/>
            <a:ext cx="41148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5" name="Google Shape;255;g3f956686030_3_115:notes"/>
          <p:cNvSpPr txBox="1"/>
          <p:nvPr>
            <p:ph idx="12" type="sldNum"/>
          </p:nvPr>
        </p:nvSpPr>
        <p:spPr>
          <a:xfrm>
            <a:off x="2913460" y="6514083"/>
            <a:ext cx="222885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956686030_3_153:notes"/>
          <p:cNvSpPr/>
          <p:nvPr>
            <p:ph idx="2" type="sldImg"/>
          </p:nvPr>
        </p:nvSpPr>
        <p:spPr>
          <a:xfrm>
            <a:off x="514295" y="857273"/>
            <a:ext cx="4114910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956686030_3_153:notes"/>
          <p:cNvSpPr txBox="1"/>
          <p:nvPr>
            <p:ph idx="1" type="body"/>
          </p:nvPr>
        </p:nvSpPr>
        <p:spPr>
          <a:xfrm>
            <a:off x="514350" y="3300500"/>
            <a:ext cx="41148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77" name="Google Shape;277;g3f956686030_3_153:notes"/>
          <p:cNvSpPr txBox="1"/>
          <p:nvPr>
            <p:ph idx="12" type="sldNum"/>
          </p:nvPr>
        </p:nvSpPr>
        <p:spPr>
          <a:xfrm>
            <a:off x="2913460" y="6514083"/>
            <a:ext cx="222885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" name="Google Shape;2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7878" y="4919243"/>
            <a:ext cx="803882" cy="19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/>
          <p:nvPr/>
        </p:nvSpPr>
        <p:spPr>
          <a:xfrm>
            <a:off x="1976575" y="1659000"/>
            <a:ext cx="5446200" cy="2356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8"/>
          <p:cNvSpPr/>
          <p:nvPr/>
        </p:nvSpPr>
        <p:spPr>
          <a:xfrm>
            <a:off x="1840125" y="1395125"/>
            <a:ext cx="5446200" cy="2356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2210544" y="1903752"/>
            <a:ext cx="4722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750"/>
              <a:buFont typeface="Mona Sans SemiBold"/>
              <a:buNone/>
            </a:pPr>
            <a:r>
              <a:rPr b="0" i="0" lang="en-US" sz="27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EventSphere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8"/>
          <p:cNvSpPr/>
          <p:nvPr/>
        </p:nvSpPr>
        <p:spPr>
          <a:xfrm>
            <a:off x="2210544" y="2559340"/>
            <a:ext cx="4722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 full-stack </a:t>
            </a: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Community Event Management Platform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enabling organisers to create and manage events, and participants to discover, register, and provide feedback — all within a single centralised hub.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568750" y="2120875"/>
            <a:ext cx="3976800" cy="19293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496119" y="960313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750"/>
              <a:buFont typeface="Mona Sans SemiBold"/>
              <a:buNone/>
            </a:pPr>
            <a:r>
              <a:rPr b="0" i="0" lang="en-US" sz="27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Technology Stack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9"/>
          <p:cNvSpPr/>
          <p:nvPr/>
        </p:nvSpPr>
        <p:spPr>
          <a:xfrm>
            <a:off x="496119" y="1757660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350"/>
              <a:buFont typeface="Mona Sans SemiBold"/>
              <a:buNone/>
            </a:pPr>
            <a:r>
              <a:rPr b="0" i="0" lang="en-US" sz="13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Backend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9"/>
          <p:cNvSpPr/>
          <p:nvPr/>
        </p:nvSpPr>
        <p:spPr>
          <a:xfrm>
            <a:off x="4749701" y="3187601"/>
            <a:ext cx="912000" cy="215400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373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350925" y="1979125"/>
            <a:ext cx="3976800" cy="1814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496119" y="2120875"/>
            <a:ext cx="3902943" cy="201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Node.js + Express.js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Non-blocking I/O, routing, middleware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MongoDB </a:t>
            </a:r>
            <a:r>
              <a:rPr b="1"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Atlas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— Flexible NoSQL schema with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JWT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Stateless authentication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bcryptjs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Password hashing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express-validator, Helmet, CORS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Validation &amp; security headers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4944650" y="2120875"/>
            <a:ext cx="3976800" cy="19293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4712775" y="1979125"/>
            <a:ext cx="3976800" cy="1814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4749701" y="1757660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350"/>
              <a:buFont typeface="Mona Sans SemiBold"/>
              <a:buNone/>
            </a:pPr>
            <a:r>
              <a:rPr b="0" i="0" lang="en-US" sz="13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Frontend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4749701" y="2120875"/>
            <a:ext cx="3902943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Built with </a:t>
            </a: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HTML, CSS, and Vanilla JavaScript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no heavyweight frameworks. Static files (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index.html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dashboard.html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etc.) are served directly by Express from the 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frontend/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directory.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4834756" y="3230091"/>
            <a:ext cx="1199034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850"/>
              <a:buFont typeface="Funnel Sans"/>
              <a:buNone/>
            </a:pPr>
            <a:r>
              <a:rPr b="0" i="0" lang="en-US" sz="850" u="none" cap="none" strike="noStrike">
                <a:solidFill>
                  <a:srgbClr val="373B48"/>
                </a:solidFill>
                <a:latin typeface="Funnel Sans"/>
                <a:ea typeface="Funnel Sans"/>
                <a:cs typeface="Funnel Sans"/>
                <a:sym typeface="Funnel Sans"/>
              </a:rPr>
              <a:t>LIGHTWEIGHT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/>
          <p:nvPr/>
        </p:nvSpPr>
        <p:spPr>
          <a:xfrm>
            <a:off x="5732487" y="3187601"/>
            <a:ext cx="976313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373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5817543" y="3230091"/>
            <a:ext cx="1263402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850"/>
              <a:buFont typeface="Funnel Sans"/>
              <a:buNone/>
            </a:pPr>
            <a:r>
              <a:rPr b="0" i="0" lang="en-US" sz="850" u="none" cap="none" strike="noStrike">
                <a:solidFill>
                  <a:srgbClr val="373B48"/>
                </a:solidFill>
                <a:latin typeface="Funnel Sans"/>
                <a:ea typeface="Funnel Sans"/>
                <a:cs typeface="Funnel Sans"/>
                <a:sym typeface="Funnel Sans"/>
              </a:rPr>
              <a:t>NO BUILD STEP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6779642" y="3187601"/>
            <a:ext cx="1160264" cy="215354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373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6864697" y="3230091"/>
            <a:ext cx="1447354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850"/>
              <a:buFont typeface="Funnel Sans"/>
              <a:buNone/>
            </a:pPr>
            <a:r>
              <a:rPr b="0" i="0" lang="en-US" sz="850" u="none" cap="none" strike="noStrike">
                <a:solidFill>
                  <a:srgbClr val="373B48"/>
                </a:solidFill>
                <a:latin typeface="Funnel Sans"/>
                <a:ea typeface="Funnel Sans"/>
                <a:cs typeface="Funnel Sans"/>
                <a:sym typeface="Funnel Sans"/>
              </a:rPr>
              <a:t>FRAMEWORK-FREE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4749701" y="3169875"/>
            <a:ext cx="912000" cy="221400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373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/>
          <p:nvPr/>
        </p:nvSpPr>
        <p:spPr>
          <a:xfrm>
            <a:off x="4848625" y="1408225"/>
            <a:ext cx="4026300" cy="14079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655375" y="1408225"/>
            <a:ext cx="3755100" cy="14079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496119" y="409724"/>
            <a:ext cx="867595" cy="182984"/>
          </a:xfrm>
          <a:prstGeom prst="roundRect">
            <a:avLst>
              <a:gd fmla="val 22126" name="adj"/>
            </a:avLst>
          </a:prstGeom>
          <a:noFill/>
          <a:ln cap="flat" cmpd="sng" w="9525">
            <a:solidFill>
              <a:srgbClr val="373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568376" y="445815"/>
            <a:ext cx="1180283" cy="110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373B48"/>
                </a:solidFill>
                <a:latin typeface="Funnel Sans"/>
                <a:ea typeface="Funnel Sans"/>
                <a:cs typeface="Funnel Sans"/>
                <a:sym typeface="Funnel Sans"/>
              </a:rPr>
              <a:t>SYSTEM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0"/>
          <p:cNvSpPr/>
          <p:nvPr/>
        </p:nvSpPr>
        <p:spPr>
          <a:xfrm>
            <a:off x="496119" y="633636"/>
            <a:ext cx="8151776" cy="37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400"/>
              <a:buFont typeface="Mona Sans SemiBold"/>
              <a:buNone/>
            </a:pPr>
            <a:r>
              <a:rPr b="0" i="0" lang="en-US" sz="24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13" y="3122937"/>
            <a:ext cx="8839196" cy="167127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/>
          <p:nvPr/>
        </p:nvSpPr>
        <p:spPr>
          <a:xfrm>
            <a:off x="431475" y="1210975"/>
            <a:ext cx="3755100" cy="140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/>
          <p:nvPr/>
        </p:nvSpPr>
        <p:spPr>
          <a:xfrm>
            <a:off x="4632175" y="1197550"/>
            <a:ext cx="4026300" cy="140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496113" y="1272909"/>
            <a:ext cx="39288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200"/>
              <a:buFont typeface="Mona Sans SemiBold"/>
              <a:buNone/>
            </a:pPr>
            <a:r>
              <a:rPr b="0" i="0" lang="en-US" sz="1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Layered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496113" y="1563570"/>
            <a:ext cx="3928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EventSphere follows a strict </a:t>
            </a:r>
            <a:r>
              <a:rPr b="1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Controller–Service–Data Access</a:t>
            </a: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pattern, keeping each layer focused and testable.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496113" y="2012287"/>
            <a:ext cx="39288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905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1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Controllers</a:t>
            </a: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Handle HTTP specifics only (req, res, status codes)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905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1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Services</a:t>
            </a: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Contain all business rules; controllers stay thin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905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1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Models</a:t>
            </a: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Manage schema definitions and Mongoose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4668786" y="1272910"/>
            <a:ext cx="39288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200"/>
              <a:buFont typeface="Mona Sans SemiBold"/>
              <a:buNone/>
            </a:pPr>
            <a:r>
              <a:rPr b="0" i="0" lang="en-US" sz="1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Middleware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4668786" y="1563572"/>
            <a:ext cx="4386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Routes use composed middleware chains: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4690271" y="1857006"/>
            <a:ext cx="3940800" cy="419100"/>
          </a:xfrm>
          <a:prstGeom prst="roundRect">
            <a:avLst>
              <a:gd fmla="val 431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4813447" y="1977537"/>
            <a:ext cx="40968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Consolas"/>
                <a:ea typeface="Consolas"/>
                <a:cs typeface="Consolas"/>
                <a:sym typeface="Consolas"/>
              </a:rPr>
              <a:t>[protect, restrictTo, validation, validate, controller]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Database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6106500" y="958225"/>
            <a:ext cx="2650200" cy="46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226"/>
              <a:buFont typeface="Mona Sans SemiBold"/>
              <a:buNone/>
            </a:pPr>
            <a:r>
              <a:rPr b="0" i="0" lang="en-US" sz="1226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Key Schema Highlights</a:t>
            </a:r>
            <a:endParaRPr b="0" i="0" sz="12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6106500" y="1575825"/>
            <a:ext cx="2650200" cy="230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95811" lvl="0" marL="195811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64"/>
              <a:buFont typeface="Funnel Sans"/>
              <a:buChar char="•"/>
            </a:pPr>
            <a:r>
              <a:rPr b="1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User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— 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Role field drives RBAC; password excluded from query results by default.</a:t>
            </a:r>
            <a:endParaRPr b="0" i="0" sz="964" u="none" cap="none" strike="noStrike">
              <a:solidFill>
                <a:srgbClr val="52586B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4">
              <a:solidFill>
                <a:srgbClr val="52586B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-195811" lvl="0" marL="195811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64"/>
              <a:buFont typeface="Funnel Sans"/>
              <a:buChar char="•"/>
            </a:pPr>
            <a:r>
              <a:rPr b="1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Event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Compound index on </a:t>
            </a:r>
            <a:r>
              <a:rPr b="0" i="0" lang="en-US" sz="964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{status, date}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for fast published-event queries.</a:t>
            </a:r>
            <a:endParaRPr b="0" i="0" sz="964" u="none" cap="none" strike="noStrike">
              <a:solidFill>
                <a:srgbClr val="52586B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801047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4">
              <a:solidFill>
                <a:srgbClr val="52586B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-195811" lvl="0" marL="195811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64"/>
              <a:buFont typeface="Funnel Sans"/>
              <a:buChar char="•"/>
            </a:pPr>
            <a:r>
              <a:rPr b="1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Registration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Unique </a:t>
            </a:r>
            <a:r>
              <a:rPr b="0" i="0" lang="en-US" sz="964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{userId, eventId}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index prevents duplicate registrations.</a:t>
            </a:r>
            <a:endParaRPr b="0" i="0" sz="964" u="none" cap="none" strike="noStrike">
              <a:solidFill>
                <a:srgbClr val="52586B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801047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4">
              <a:solidFill>
                <a:srgbClr val="52586B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-195811" lvl="0" marL="195811" marR="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64"/>
              <a:buFont typeface="Funnel Sans"/>
              <a:buChar char="•"/>
            </a:pPr>
            <a:r>
              <a:rPr b="1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Feedback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Unique </a:t>
            </a:r>
            <a:r>
              <a:rPr b="0" i="0" lang="en-US" sz="964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{userId, eventId}</a:t>
            </a:r>
            <a:r>
              <a:rPr b="0" i="0" lang="en-US" sz="964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index enforces one review per user per event.</a:t>
            </a:r>
            <a:endParaRPr b="0" i="0" sz="9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00" y="779624"/>
            <a:ext cx="5606701" cy="40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496119" y="389855"/>
            <a:ext cx="8151763" cy="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650"/>
              <a:buFont typeface="Mona Sans SemiBold"/>
              <a:buNone/>
            </a:pPr>
            <a:r>
              <a:rPr b="0" i="0" lang="en-US" sz="26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Request Lifecycle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496119" y="4115842"/>
            <a:ext cx="8151763" cy="63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050"/>
              <a:buFont typeface="Funnel Sans"/>
              <a:buNone/>
            </a:pPr>
            <a:r>
              <a:rPr b="0" i="0" lang="en-US" sz="10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Every request flows through a well-defined pipeline. Global middleware applies first, then route-level middleware handles authentication, authorisation, and validation. The Controller delegates business logic to the Service layer, which interacts with MongoDB via Mongoose. Errors at any stage are caught by </a:t>
            </a:r>
            <a:r>
              <a:rPr b="0" i="0" lang="en-US" sz="10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catchAsync</a:t>
            </a:r>
            <a:r>
              <a:rPr b="0" i="0" lang="en-US" sz="10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and handled centrally.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00" y="1852930"/>
            <a:ext cx="8839200" cy="106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" name="Google Shape;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496119" y="394171"/>
            <a:ext cx="4722763" cy="76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350"/>
              <a:buFont typeface="Mona Sans SemiBold"/>
              <a:buNone/>
            </a:pPr>
            <a:r>
              <a:rPr b="0" i="0" lang="en-US" sz="23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Authentication &amp; Authorisation Flow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312590"/>
            <a:ext cx="609154" cy="859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/>
          <p:nvPr/>
        </p:nvSpPr>
        <p:spPr>
          <a:xfrm>
            <a:off x="1209898" y="1434405"/>
            <a:ext cx="4008983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Mona Sans SemiBold"/>
              <a:buNone/>
            </a:pPr>
            <a:r>
              <a:rPr b="0" i="0" lang="en-US" sz="11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Signup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209898" y="1687562"/>
            <a:ext cx="4008983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POST /api/auth/signup</a:t>
            </a:r>
            <a:r>
              <a:rPr b="0" i="0" lang="en-US" sz="9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Email checked, password hashed via Mongoose pre-save hook, tokens issued.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171774"/>
            <a:ext cx="609154" cy="859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/>
          <p:nvPr/>
        </p:nvSpPr>
        <p:spPr>
          <a:xfrm>
            <a:off x="1209898" y="2293590"/>
            <a:ext cx="4008983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Mona Sans SemiBold"/>
              <a:buNone/>
            </a:pPr>
            <a:r>
              <a:rPr b="0" i="0" lang="en-US" sz="11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Login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1209898" y="2546747"/>
            <a:ext cx="4008983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POST /api/auth/login</a:t>
            </a:r>
            <a:r>
              <a:rPr b="0" i="0" lang="en-US" sz="9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Credentials verified via </a:t>
            </a:r>
            <a:r>
              <a:rPr b="0" i="0" lang="en-US" sz="9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bcrypt.compare</a:t>
            </a:r>
            <a:r>
              <a:rPr b="0" i="0" lang="en-US" sz="9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; Access + Refresh tokens returned.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030959"/>
            <a:ext cx="609154" cy="859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/>
          <p:nvPr/>
        </p:nvSpPr>
        <p:spPr>
          <a:xfrm>
            <a:off x="1209898" y="3152775"/>
            <a:ext cx="4008983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Mona Sans SemiBold"/>
              <a:buNone/>
            </a:pPr>
            <a:r>
              <a:rPr b="0" i="0" lang="en-US" sz="11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Protect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1209898" y="3405932"/>
            <a:ext cx="4008983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protect</a:t>
            </a:r>
            <a:r>
              <a:rPr b="0" i="0" lang="en-US" sz="9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middleware verifies JWT, decodes user ID, fetches user, attaches to </a:t>
            </a:r>
            <a:r>
              <a:rPr b="0" i="0" lang="en-US" sz="9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req.user</a:t>
            </a:r>
            <a:r>
              <a:rPr b="0" i="0" lang="en-US" sz="9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3890144"/>
            <a:ext cx="609154" cy="859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/>
          <p:nvPr/>
        </p:nvSpPr>
        <p:spPr>
          <a:xfrm>
            <a:off x="1209898" y="4011960"/>
            <a:ext cx="4008983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Mona Sans SemiBold"/>
              <a:buNone/>
            </a:pPr>
            <a:r>
              <a:rPr b="0" i="0" lang="en-US" sz="11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RBAC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1209898" y="4265116"/>
            <a:ext cx="4008983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restrictTo('organizer', 'admin')</a:t>
            </a:r>
            <a:r>
              <a:rPr b="0" i="0" lang="en-US" sz="9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ensures only authorised roles can perform privileged actions.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50" y="152400"/>
            <a:ext cx="934565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1215" y="200025"/>
            <a:ext cx="1559093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932" y="152400"/>
            <a:ext cx="1145543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1677450" y="1573750"/>
            <a:ext cx="1443900" cy="1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Authentication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Flow 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445750" y="1573750"/>
            <a:ext cx="14940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User Registration (Account Creation) Flow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21" name="Google Shape;121;p14"/>
          <p:cNvSpPr txBox="1"/>
          <p:nvPr/>
        </p:nvSpPr>
        <p:spPr>
          <a:xfrm>
            <a:off x="7453250" y="1658300"/>
            <a:ext cx="13500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Creation Flow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496119" y="465162"/>
            <a:ext cx="8151776" cy="37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400"/>
              <a:buFont typeface="Mona Sans SemiBold"/>
              <a:buNone/>
            </a:pPr>
            <a:r>
              <a:rPr b="0" i="0" lang="en-US" sz="24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Implemented Features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496119" y="1046485"/>
            <a:ext cx="4024800" cy="1142400"/>
          </a:xfrm>
          <a:prstGeom prst="roundRect">
            <a:avLst>
              <a:gd fmla="val 4430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21359" y="1171724"/>
            <a:ext cx="361504" cy="361504"/>
          </a:xfrm>
          <a:prstGeom prst="ellipse">
            <a:avLst/>
          </a:prstGeom>
          <a:solidFill>
            <a:srgbClr val="373B4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76" y="1271141"/>
            <a:ext cx="162665" cy="16266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621359" y="1635621"/>
            <a:ext cx="3774213" cy="18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Mona Sans SemiBold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User Authentication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21359" y="1885280"/>
            <a:ext cx="3774213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Login, signup, JWT generation, and bcrypt password hashing.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4623204" y="1046485"/>
            <a:ext cx="4024691" cy="1142330"/>
          </a:xfrm>
          <a:prstGeom prst="roundRect">
            <a:avLst>
              <a:gd fmla="val 4430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4748443" y="1171724"/>
            <a:ext cx="361504" cy="361504"/>
          </a:xfrm>
          <a:prstGeom prst="ellipse">
            <a:avLst/>
          </a:prstGeom>
          <a:solidFill>
            <a:srgbClr val="373B4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7861" y="1271141"/>
            <a:ext cx="162665" cy="16266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4748443" y="1635621"/>
            <a:ext cx="3774213" cy="18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Mona Sans SemiBold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Role-Based Access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4748443" y="1885280"/>
            <a:ext cx="3774213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Distinct permissions for participants, organizers, and admins.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496119" y="2291209"/>
            <a:ext cx="4024691" cy="1142330"/>
          </a:xfrm>
          <a:prstGeom prst="roundRect">
            <a:avLst>
              <a:gd fmla="val 4430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621359" y="2416448"/>
            <a:ext cx="361504" cy="361504"/>
          </a:xfrm>
          <a:prstGeom prst="ellipse">
            <a:avLst/>
          </a:prstGeom>
          <a:solidFill>
            <a:srgbClr val="373B4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776" y="2515865"/>
            <a:ext cx="162665" cy="16266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/>
          <p:nvPr/>
        </p:nvSpPr>
        <p:spPr>
          <a:xfrm>
            <a:off x="621359" y="2880345"/>
            <a:ext cx="3774213" cy="18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Mona Sans SemiBold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Event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21359" y="3130004"/>
            <a:ext cx="3774213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Full CRUD for Events and Organizations with validation.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4623204" y="2291209"/>
            <a:ext cx="4024691" cy="1142330"/>
          </a:xfrm>
          <a:prstGeom prst="roundRect">
            <a:avLst>
              <a:gd fmla="val 4430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4748443" y="2416448"/>
            <a:ext cx="361504" cy="361504"/>
          </a:xfrm>
          <a:prstGeom prst="ellipse">
            <a:avLst/>
          </a:prstGeom>
          <a:solidFill>
            <a:srgbClr val="373B4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7861" y="2515865"/>
            <a:ext cx="162665" cy="16266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/>
          <p:nvPr/>
        </p:nvSpPr>
        <p:spPr>
          <a:xfrm>
            <a:off x="4748443" y="2880345"/>
            <a:ext cx="3774213" cy="18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Mona Sans SemiBold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Event Registration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4748443" y="3130004"/>
            <a:ext cx="3774213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Register, waitlist, cancel, and mark attendance.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496119" y="3535933"/>
            <a:ext cx="4024691" cy="1142330"/>
          </a:xfrm>
          <a:prstGeom prst="roundRect">
            <a:avLst>
              <a:gd fmla="val 4430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621359" y="3661172"/>
            <a:ext cx="361504" cy="361504"/>
          </a:xfrm>
          <a:prstGeom prst="ellipse">
            <a:avLst/>
          </a:prstGeom>
          <a:solidFill>
            <a:srgbClr val="373B4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776" y="3760589"/>
            <a:ext cx="162665" cy="16266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621359" y="4125069"/>
            <a:ext cx="3774213" cy="18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Mona Sans SemiBold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Feedback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621359" y="4374728"/>
            <a:ext cx="3774213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One rating and comment per user per event.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623204" y="3535933"/>
            <a:ext cx="4024691" cy="1142330"/>
          </a:xfrm>
          <a:prstGeom prst="roundRect">
            <a:avLst>
              <a:gd fmla="val 4430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4748443" y="3661172"/>
            <a:ext cx="361504" cy="361504"/>
          </a:xfrm>
          <a:prstGeom prst="ellipse">
            <a:avLst/>
          </a:prstGeom>
          <a:solidFill>
            <a:srgbClr val="373B4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47861" y="3760589"/>
            <a:ext cx="162665" cy="16266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/>
          <p:nvPr/>
        </p:nvSpPr>
        <p:spPr>
          <a:xfrm>
            <a:off x="4748443" y="4125069"/>
            <a:ext cx="3774213" cy="18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Mona Sans SemiBold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Centralized Error Handling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4748443" y="4374728"/>
            <a:ext cx="3774213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Unified operational error processing across the app.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/>
          <p:nvPr/>
        </p:nvSpPr>
        <p:spPr>
          <a:xfrm>
            <a:off x="496119" y="529159"/>
            <a:ext cx="798837" cy="172268"/>
          </a:xfrm>
          <a:prstGeom prst="roundRect">
            <a:avLst>
              <a:gd fmla="val 22120" name="adj"/>
            </a:avLst>
          </a:prstGeom>
          <a:solidFill>
            <a:srgbClr val="E2E4E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564134" y="563166"/>
            <a:ext cx="1120008" cy="104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700"/>
              <a:buFont typeface="Funnel Sans"/>
              <a:buNone/>
            </a:pPr>
            <a:r>
              <a:rPr b="0" i="0" lang="en-US" sz="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API REFERENCE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96119" y="737666"/>
            <a:ext cx="8151776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API Documentation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96119" y="1228055"/>
            <a:ext cx="2656735" cy="1647751"/>
          </a:xfrm>
          <a:prstGeom prst="roundRect">
            <a:avLst>
              <a:gd fmla="val 2891" name="adj"/>
            </a:avLst>
          </a:prstGeom>
          <a:solidFill>
            <a:srgbClr val="FFFFFF">
              <a:alpha val="949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623814" y="1355750"/>
            <a:ext cx="2401346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Authentication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623814" y="1587326"/>
            <a:ext cx="2401346" cy="16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/api/auth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623814" y="1804988"/>
            <a:ext cx="2401346" cy="55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POST /signup — Register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POST /login — Authenticate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GET /me — Current user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43566" y="1228055"/>
            <a:ext cx="2656809" cy="1647751"/>
          </a:xfrm>
          <a:prstGeom prst="roundRect">
            <a:avLst>
              <a:gd fmla="val 2891" name="adj"/>
            </a:avLst>
          </a:prstGeom>
          <a:solidFill>
            <a:srgbClr val="FFFFFF">
              <a:alpha val="949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3371260" y="1355750"/>
            <a:ext cx="2401420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3371260" y="1587326"/>
            <a:ext cx="2401420" cy="16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/api/events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3371260" y="1804988"/>
            <a:ext cx="2401420" cy="94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GET / — List events (public)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GET /:id — Event details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POST / — Create (organizer)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PATCH /:id — Update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DELETE /:id — Delete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991086" y="1228055"/>
            <a:ext cx="2656809" cy="1647751"/>
          </a:xfrm>
          <a:prstGeom prst="roundRect">
            <a:avLst>
              <a:gd fmla="val 2891" name="adj"/>
            </a:avLst>
          </a:prstGeom>
          <a:solidFill>
            <a:srgbClr val="FFFFFF">
              <a:alpha val="949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118781" y="1355750"/>
            <a:ext cx="2401420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Organizations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118781" y="1587326"/>
            <a:ext cx="2401420" cy="16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/api/organizations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118781" y="1804988"/>
            <a:ext cx="2401420" cy="55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GET / — List 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GET /:id — Details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POST / — Create (admin)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96119" y="2966516"/>
            <a:ext cx="4030496" cy="1647751"/>
          </a:xfrm>
          <a:prstGeom prst="roundRect">
            <a:avLst>
              <a:gd fmla="val 2891" name="adj"/>
            </a:avLst>
          </a:prstGeom>
          <a:solidFill>
            <a:srgbClr val="FFFFFF">
              <a:alpha val="949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23814" y="3094211"/>
            <a:ext cx="3775106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Registrations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23814" y="3325788"/>
            <a:ext cx="3775106" cy="16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/api/registrations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623814" y="3543449"/>
            <a:ext cx="3775106" cy="94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POST /:eventId/register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PATCH /:eventId/cancel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GET /me — My registrations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GET /:eventId — All (organizer)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PATCH /:eventId/attendance/:userId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617326" y="2966516"/>
            <a:ext cx="4030570" cy="1647751"/>
          </a:xfrm>
          <a:prstGeom prst="roundRect">
            <a:avLst>
              <a:gd fmla="val 2891" name="adj"/>
            </a:avLst>
          </a:prstGeom>
          <a:solidFill>
            <a:srgbClr val="FFFFFF">
              <a:alpha val="949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4745020" y="3094211"/>
            <a:ext cx="3775181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4745020" y="3325788"/>
            <a:ext cx="3775181" cy="16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/api/feedback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4745020" y="3543449"/>
            <a:ext cx="3775181" cy="358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POST /:eventId — Submit (one per user)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Char char="•"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GET /:eventId — View (public)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Repository Folder 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5770425" y="963576"/>
            <a:ext cx="2995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700"/>
              <a:buFont typeface="Mona Sans SemiBold"/>
              <a:buNone/>
            </a:pPr>
            <a:r>
              <a:rPr b="0" i="0" lang="en-US" sz="15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Backend — Core Logic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5770425" y="1327159"/>
            <a:ext cx="29958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550"/>
              <a:buFont typeface="Funnel Sans"/>
              <a:buNone/>
            </a:pP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 </a:t>
            </a:r>
            <a:r>
              <a:rPr b="0" i="0" lang="en-US" sz="13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backend/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folder follows a clean MVC-like separation. </a:t>
            </a:r>
            <a:r>
              <a:rPr b="0" i="0" lang="en-US" sz="13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server.js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bootstraps the app; </a:t>
            </a:r>
            <a:r>
              <a:rPr b="0" i="0" lang="en-US" sz="13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src/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houses all source code split across controllers, services, routes, models, middleware, and utils.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5770425" y="3056463"/>
            <a:ext cx="29958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700"/>
              <a:buFont typeface="Mona Sans SemiBold"/>
              <a:buNone/>
            </a:pPr>
            <a:r>
              <a:rPr b="0" i="0" lang="en-US" sz="15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Frontend — Static Assets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5770425" y="3422476"/>
            <a:ext cx="33393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550"/>
              <a:buFont typeface="Funnel Sans"/>
              <a:buNone/>
            </a:pP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 </a:t>
            </a:r>
            <a:r>
              <a:rPr b="0" i="0" lang="en-US" sz="13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frontend/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folder contains HTML pages and their associated </a:t>
            </a:r>
            <a:r>
              <a:rPr b="0" i="0" lang="en-US" sz="13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css/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and </a:t>
            </a:r>
            <a:r>
              <a:rPr b="0" i="0" lang="en-US" sz="13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js/</a:t>
            </a:r>
            <a:r>
              <a:rPr b="0" i="0" lang="en-US" sz="13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subdirectories, served statically by Express.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7" title="ChatGPT Image Jul 23, 2026, 06_37_2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4427"/>
            <a:ext cx="5465626" cy="364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496119" y="442019"/>
            <a:ext cx="757834" cy="204564"/>
          </a:xfrm>
          <a:prstGeom prst="roundRect">
            <a:avLst>
              <a:gd fmla="val 22121" name="adj"/>
            </a:avLst>
          </a:prstGeom>
          <a:noFill/>
          <a:ln cap="flat" cmpd="sng" w="9525">
            <a:solidFill>
              <a:srgbClr val="373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576859" y="482352"/>
            <a:ext cx="1053556" cy="123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800"/>
              <a:buFont typeface="Funnel Sans"/>
              <a:buNone/>
            </a:pPr>
            <a:r>
              <a:rPr b="0" i="0" lang="en-US" sz="800" u="none" cap="none" strike="noStrike">
                <a:solidFill>
                  <a:srgbClr val="373B48"/>
                </a:solidFill>
                <a:latin typeface="Funnel Sans"/>
                <a:ea typeface="Funnel Sans"/>
                <a:cs typeface="Funnel Sans"/>
                <a:sym typeface="Funnel Sans"/>
              </a:rPr>
              <a:t>REFERENCE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496119" y="697706"/>
            <a:ext cx="8151776" cy="42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600"/>
              <a:buFont typeface="Mona Sans SemiBold"/>
              <a:buNone/>
            </a:pPr>
            <a:r>
              <a:rPr b="0" i="0" lang="en-US" sz="26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Repository Inventory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96119" y="1438424"/>
            <a:ext cx="3911582" cy="210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300"/>
              <a:buFont typeface="Mona Sans SemiBold"/>
              <a:buNone/>
            </a:pPr>
            <a:r>
              <a:rPr b="0" i="0" lang="en-US" sz="13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Controllers &amp; Routes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96119" y="1776710"/>
            <a:ext cx="3911582" cy="1439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auth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authController.js / authRoutes.js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events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eventController.js / eventRoutes.js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feedback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feedbackController.js / feedbackRoutes.js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orgs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orgController.js / orgRoutes.js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registrations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registrationController.js / registrationRoutes.js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496119" y="3343945"/>
            <a:ext cx="3911582" cy="210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300"/>
              <a:buFont typeface="Mona Sans SemiBold"/>
              <a:buNone/>
            </a:pPr>
            <a:r>
              <a:rPr b="0" i="0" lang="en-US" sz="13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Middleware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96119" y="3682231"/>
            <a:ext cx="3911582" cy="974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auth.js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protect (JWT)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rbac.js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restrictTo (roles)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validate.js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validation wrapper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errorHandler.js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catchAsync, AppError, global handler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741077" y="1438424"/>
            <a:ext cx="3911582" cy="210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300"/>
              <a:buFont typeface="Mona Sans SemiBold"/>
              <a:buNone/>
            </a:pPr>
            <a:r>
              <a:rPr b="0" i="0" lang="en-US" sz="13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4741077" y="1776710"/>
            <a:ext cx="3911582" cy="46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Event.js · Feedback.js · Organization.js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Registration.js · User.js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4741077" y="2369492"/>
            <a:ext cx="3911582" cy="210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300"/>
              <a:buFont typeface="Mona Sans SemiBold"/>
              <a:buNone/>
            </a:pPr>
            <a:r>
              <a:rPr b="0" i="0" lang="en-US" sz="13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741077" y="2707779"/>
            <a:ext cx="3911582" cy="46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authService.js · eventService.js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feedbackService.js · registrationService.js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741077" y="3300561"/>
            <a:ext cx="3911582" cy="210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300"/>
              <a:buFont typeface="Mona Sans SemiBold"/>
              <a:buNone/>
            </a:pPr>
            <a:r>
              <a:rPr b="0" i="0" lang="en-US" sz="13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Utilities &amp; Config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741077" y="3638848"/>
            <a:ext cx="3911582" cy="974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response.js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Standard JSON responses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tokens.js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JWT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db.js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MongoDB connection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15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Char char="•"/>
            </a:pP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server.js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· </a:t>
            </a: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app.js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· </a:t>
            </a: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.env.example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· </a:t>
            </a:r>
            <a:r>
              <a:rPr b="1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package.json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394850" y="1367700"/>
            <a:ext cx="3911700" cy="173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4631125" y="1370000"/>
            <a:ext cx="3911700" cy="97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4631125" y="2369475"/>
            <a:ext cx="3911700" cy="84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394850" y="3343925"/>
            <a:ext cx="3911700" cy="122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4631125" y="3300575"/>
            <a:ext cx="3911700" cy="1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/>
          <p:nvPr/>
        </p:nvSpPr>
        <p:spPr>
          <a:xfrm>
            <a:off x="496119" y="1084436"/>
            <a:ext cx="815177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800"/>
              <a:buFont typeface="Mona Sans SemiBold"/>
              <a:buNone/>
            </a:pPr>
            <a:r>
              <a:rPr b="0" i="0" lang="en-US" sz="28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Security Measures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496119" y="1810941"/>
            <a:ext cx="2622728" cy="1053182"/>
          </a:xfrm>
          <a:prstGeom prst="roundRect">
            <a:avLst>
              <a:gd fmla="val 5653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642641" y="1957462"/>
            <a:ext cx="232968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JWT Authentication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642641" y="2263973"/>
            <a:ext cx="2329685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Stateless tokens for secure, scalable session management.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3260606" y="1810941"/>
            <a:ext cx="2622728" cy="1053182"/>
          </a:xfrm>
          <a:prstGeom prst="roundRect">
            <a:avLst>
              <a:gd fmla="val 5653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3407128" y="1957462"/>
            <a:ext cx="232968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bcrypt Hashing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3407128" y="2263973"/>
            <a:ext cx="2329685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Passwords never stored in plaintext in the database.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25094" y="1810941"/>
            <a:ext cx="2622728" cy="1053182"/>
          </a:xfrm>
          <a:prstGeom prst="roundRect">
            <a:avLst>
              <a:gd fmla="val 5653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6171615" y="1957462"/>
            <a:ext cx="232968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Helmet &amp; CORS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171615" y="2263973"/>
            <a:ext cx="2329685" cy="453629"/>
          </a:xfrm>
          <a:prstGeom prst="rect">
            <a:avLst/>
          </a:prstGeom>
          <a:solidFill>
            <a:srgbClr val="C8CA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Secures HTTP headers and controls cross-origin access.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496119" y="3005882"/>
            <a:ext cx="4004972" cy="1053182"/>
          </a:xfrm>
          <a:prstGeom prst="roundRect">
            <a:avLst>
              <a:gd fmla="val 5653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642641" y="3152403"/>
            <a:ext cx="371192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express-validator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642641" y="3458915"/>
            <a:ext cx="3711928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Strict input validation at route level prevents injection attacks.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4642850" y="3005882"/>
            <a:ext cx="4004972" cy="1053182"/>
          </a:xfrm>
          <a:prstGeom prst="roundRect">
            <a:avLst>
              <a:gd fmla="val 5653" name="adj"/>
            </a:avLst>
          </a:prstGeom>
          <a:solidFill>
            <a:srgbClr val="C8CACF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4789371" y="3152403"/>
            <a:ext cx="371192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DB Compound Indexes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4789371" y="3458915"/>
            <a:ext cx="3711928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Unique indexes on userId + eventId prevent duplicate registrations and feedback.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/>
          <p:nvPr/>
        </p:nvSpPr>
        <p:spPr>
          <a:xfrm>
            <a:off x="496119" y="576709"/>
            <a:ext cx="815177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800"/>
              <a:buFont typeface="Mona Sans SemiBold"/>
              <a:buNone/>
            </a:pPr>
            <a:r>
              <a:rPr b="0" i="0" lang="en-US" sz="28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Error Handling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202" y="1303213"/>
            <a:ext cx="7321342" cy="265040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1160000" dist="9525">
              <a:srgbClr val="000000"/>
            </a:outerShdw>
          </a:effectLst>
        </p:spPr>
      </p:pic>
      <p:sp>
        <p:nvSpPr>
          <p:cNvPr id="248" name="Google Shape;248;p20"/>
          <p:cNvSpPr/>
          <p:nvPr/>
        </p:nvSpPr>
        <p:spPr>
          <a:xfrm>
            <a:off x="1448659" y="3306656"/>
            <a:ext cx="2127702" cy="2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Global Error Middleware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448659" y="2507797"/>
            <a:ext cx="1873219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catchAsync Wrapper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1448659" y="1700787"/>
            <a:ext cx="1834117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AppError Class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96119" y="4113089"/>
            <a:ext cx="815177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This three-layer approach ensures every error — whether a validation failure, a database conflict, or an unexpected exception — is caught, classified, and returned as a consistent, human-readable HTTP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/>
          <p:nvPr/>
        </p:nvSpPr>
        <p:spPr>
          <a:xfrm>
            <a:off x="496119" y="619199"/>
            <a:ext cx="815177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800"/>
              <a:buFont typeface="Mona Sans SemiBold"/>
              <a:buNone/>
            </a:pPr>
            <a:r>
              <a:rPr b="0" i="0" lang="en-US" sz="28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Future Improvements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96119" y="1345704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49288" y="137227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Mona Sans SemiBold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956818" y="1394371"/>
            <a:ext cx="76910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Refresh Token Endpoint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956818" y="1700882"/>
            <a:ext cx="769107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Consume refresh tokens to issue new access tokens without re-authentication.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96119" y="2211214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549288" y="223778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Mona Sans SemiBold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956818" y="2259881"/>
            <a:ext cx="76910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Security Hardening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956818" y="2566392"/>
            <a:ext cx="769107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Add 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express-rate-limit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on auth routes and 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xss-clean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for data sanitization.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96119" y="3076724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549288" y="310329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Mona Sans SemiBold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956818" y="3125390"/>
            <a:ext cx="76910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Pagination &amp; Filtering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956818" y="3431902"/>
            <a:ext cx="769107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Support 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limit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page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and 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query params on </a:t>
            </a:r>
            <a:r>
              <a:rPr b="0" i="0" lang="en-US" sz="11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GET /api/events</a:t>
            </a: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96119" y="3942234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549288" y="396880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Mona Sans SemiBold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956818" y="3990901"/>
            <a:ext cx="769107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Mona Sans SemiBold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Automated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956818" y="4297412"/>
            <a:ext cx="769107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Introduce Jest or Mocha/Chai — the repository currently has no test coverage.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/>
          <p:nvPr/>
        </p:nvSpPr>
        <p:spPr>
          <a:xfrm>
            <a:off x="496119" y="1131392"/>
            <a:ext cx="8151776" cy="489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100"/>
              <a:buFont typeface="Mona Sans SemiBold"/>
              <a:buNone/>
            </a:pPr>
            <a:r>
              <a:rPr b="0" i="0" lang="en-US" sz="31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Conclusion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267519" y="1801862"/>
            <a:ext cx="8608977" cy="16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EventSphere delivers a robust, secure, and scalable platform for seamless event management.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96119" y="2067149"/>
            <a:ext cx="4030496" cy="794444"/>
          </a:xfrm>
          <a:prstGeom prst="roundRect">
            <a:avLst>
              <a:gd fmla="val 5996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614289" y="2185318"/>
            <a:ext cx="3794156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Full-Featured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614289" y="2416895"/>
            <a:ext cx="3794156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Comprehensive API covering authentication, event lifecycle, and user interactions.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4617326" y="2067149"/>
            <a:ext cx="4030570" cy="794444"/>
          </a:xfrm>
          <a:prstGeom prst="roundRect">
            <a:avLst>
              <a:gd fmla="val 5996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4735496" y="2185318"/>
            <a:ext cx="3794230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Secure &amp; Reliable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735496" y="2416895"/>
            <a:ext cx="3794230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Robust authentication, role-based access, and input validation ensure data integrity.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96119" y="2952304"/>
            <a:ext cx="4030496" cy="794444"/>
          </a:xfrm>
          <a:prstGeom prst="roundRect">
            <a:avLst>
              <a:gd fmla="val 5996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614289" y="3070473"/>
            <a:ext cx="3794156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Modular &amp; Scalable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614289" y="3302050"/>
            <a:ext cx="3794156" cy="16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Layered architecture designed for maintainability and future expansion.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4617326" y="2952304"/>
            <a:ext cx="4030570" cy="794444"/>
          </a:xfrm>
          <a:prstGeom prst="roundRect">
            <a:avLst>
              <a:gd fmla="val 5996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4735496" y="3070473"/>
            <a:ext cx="3794230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00"/>
              <a:buFont typeface="Mona Sans SemiBold"/>
              <a:buNone/>
            </a:pPr>
            <a:r>
              <a:rPr b="0" i="0" lang="en-US" sz="11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Unified Error Handling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735496" y="3302050"/>
            <a:ext cx="3794230" cy="326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Consistent error responses simplify integration and debugging for developers.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267519" y="3848770"/>
            <a:ext cx="8608977" cy="16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900"/>
              <a:buFont typeface="Funnel Sans"/>
              <a:buNone/>
            </a:pPr>
            <a:r>
              <a:rPr b="0" i="0" lang="en-US" sz="9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This foundation provides a powerful and extensible solution for your event ecosystem needs.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